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448" r:id="rId5"/>
    <p:sldId id="2449" r:id="rId6"/>
    <p:sldId id="2450" r:id="rId7"/>
    <p:sldId id="2451" r:id="rId8"/>
    <p:sldId id="2452" r:id="rId9"/>
    <p:sldId id="2453" r:id="rId10"/>
    <p:sldId id="2455" r:id="rId11"/>
    <p:sldId id="2456" r:id="rId12"/>
    <p:sldId id="2457" r:id="rId13"/>
    <p:sldId id="2458" r:id="rId14"/>
    <p:sldId id="2459" r:id="rId15"/>
    <p:sldId id="2460" r:id="rId16"/>
    <p:sldId id="243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70" autoAdjust="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3/27/2023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3/27/2023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9.24.XX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370AC-849A-D080-50E4-4D8D86395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8600" y="3325906"/>
            <a:ext cx="4114800" cy="3115029"/>
          </a:xfrm>
        </p:spPr>
        <p:txBody>
          <a:bodyPr/>
          <a:lstStyle/>
          <a:p>
            <a:r>
              <a:rPr lang="en-IN" dirty="0"/>
              <a:t>AIDI 1006 Assignment 4</a:t>
            </a:r>
          </a:p>
          <a:p>
            <a:r>
              <a:rPr lang="en-IN" dirty="0"/>
              <a:t>Members</a:t>
            </a:r>
          </a:p>
          <a:p>
            <a:r>
              <a:rPr lang="en-IN" dirty="0" err="1"/>
              <a:t>Akshaykumar</a:t>
            </a:r>
            <a:r>
              <a:rPr lang="en-IN" dirty="0"/>
              <a:t> Thakare</a:t>
            </a:r>
          </a:p>
          <a:p>
            <a:r>
              <a:rPr lang="en-IN" dirty="0"/>
              <a:t>(200523970)</a:t>
            </a:r>
          </a:p>
          <a:p>
            <a:r>
              <a:rPr lang="en-IN" dirty="0"/>
              <a:t>Manav </a:t>
            </a:r>
            <a:r>
              <a:rPr lang="en-IN" dirty="0" err="1"/>
              <a:t>Kumbhani</a:t>
            </a:r>
            <a:endParaRPr lang="en-IN" dirty="0"/>
          </a:p>
          <a:p>
            <a:r>
              <a:rPr lang="en-IN" dirty="0"/>
              <a:t>(200509153)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30" y="1362635"/>
            <a:ext cx="11518432" cy="1685365"/>
          </a:xfrm>
        </p:spPr>
        <p:txBody>
          <a:bodyPr/>
          <a:lstStyle/>
          <a:p>
            <a:r>
              <a:rPr lang="en-US" dirty="0"/>
              <a:t>Credit CARD FRAUD DETECTION.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10FFE-F814-0D6F-F84F-E9E4446F6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28181C-0216-F904-1FEC-D1CD50EB9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8" y="2799617"/>
            <a:ext cx="10213328" cy="2561277"/>
          </a:xfrm>
        </p:spPr>
        <p:txBody>
          <a:bodyPr/>
          <a:lstStyle/>
          <a:p>
            <a:r>
              <a:rPr lang="en-CA" dirty="0"/>
              <a:t>Selected Solution: </a:t>
            </a:r>
            <a:r>
              <a:rPr lang="en-US" dirty="0"/>
              <a:t>Credit Card Fraud Detection</a:t>
            </a:r>
            <a:endParaRPr lang="en-CA" dirty="0"/>
          </a:p>
          <a:p>
            <a:r>
              <a:rPr lang="en-CA" dirty="0"/>
              <a:t>Solution is based on Microsoft Azure</a:t>
            </a:r>
          </a:p>
          <a:p>
            <a:r>
              <a:rPr lang="en-CA" dirty="0"/>
              <a:t>Data Source: CreditCard.csv</a:t>
            </a:r>
          </a:p>
          <a:p>
            <a:r>
              <a:rPr lang="en-CA" dirty="0"/>
              <a:t>Programming Language: Python</a:t>
            </a:r>
          </a:p>
          <a:p>
            <a:r>
              <a:rPr lang="en-CA" dirty="0"/>
              <a:t>Visualization Tool: PowerPoint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5A6162-E991-CD36-6222-E88526648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5" y="612037"/>
            <a:ext cx="10963836" cy="884238"/>
          </a:xfrm>
        </p:spPr>
        <p:txBody>
          <a:bodyPr/>
          <a:lstStyle/>
          <a:p>
            <a:pPr algn="ctr"/>
            <a:r>
              <a:rPr lang="en-IN" dirty="0"/>
              <a:t>In THIS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11728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10FFE-F814-0D6F-F84F-E9E4446F6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3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193F824-4679-7CC1-E4EF-64E9A277F4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528638" y="3423357"/>
            <a:ext cx="11179268" cy="131462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F5A6162-E991-CD36-6222-E88526648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5" y="612037"/>
            <a:ext cx="10963836" cy="884238"/>
          </a:xfrm>
        </p:spPr>
        <p:txBody>
          <a:bodyPr/>
          <a:lstStyle/>
          <a:p>
            <a:pPr algn="ctr"/>
            <a:r>
              <a:rPr lang="en-IN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680546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10FFE-F814-0D6F-F84F-E9E4446F6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5A6162-E991-CD36-6222-E88526648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5" y="612037"/>
            <a:ext cx="10963836" cy="884238"/>
          </a:xfrm>
        </p:spPr>
        <p:txBody>
          <a:bodyPr/>
          <a:lstStyle/>
          <a:p>
            <a:pPr algn="ctr"/>
            <a:r>
              <a:rPr lang="en-IN" dirty="0"/>
              <a:t>Data Loading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8D972D7-90B3-5326-CF81-E1909B9890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96275"/>
            <a:ext cx="10142313" cy="4972028"/>
          </a:xfrm>
        </p:spPr>
      </p:pic>
    </p:spTree>
    <p:extLst>
      <p:ext uri="{BB962C8B-B14F-4D97-AF65-F5344CB8AC3E}">
        <p14:creationId xmlns:p14="http://schemas.microsoft.com/office/powerpoint/2010/main" val="264138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10FFE-F814-0D6F-F84F-E9E4446F6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5A6162-E991-CD36-6222-E88526648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5" y="612037"/>
            <a:ext cx="10963836" cy="884238"/>
          </a:xfrm>
        </p:spPr>
        <p:txBody>
          <a:bodyPr/>
          <a:lstStyle/>
          <a:p>
            <a:pPr algn="ctr"/>
            <a:r>
              <a:rPr lang="en-IN" dirty="0"/>
              <a:t>Data Loading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41F1B975-F903-F03A-EBBD-A78D6F0FCA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838" y="1363981"/>
            <a:ext cx="5745162" cy="3749040"/>
          </a:xfrm>
        </p:spPr>
      </p:pic>
      <p:pic>
        <p:nvPicPr>
          <p:cNvPr id="17" name="Content Placeholder 15">
            <a:extLst>
              <a:ext uri="{FF2B5EF4-FFF2-40B4-BE49-F238E27FC236}">
                <a16:creationId xmlns:a16="http://schemas.microsoft.com/office/drawing/2014/main" id="{8E810D04-7E36-6595-90D0-918A7606A5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21780" y="1363980"/>
            <a:ext cx="5274385" cy="374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878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10FFE-F814-0D6F-F84F-E9E4446F6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5A6162-E991-CD36-6222-E88526648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5" y="612037"/>
            <a:ext cx="10963836" cy="884238"/>
          </a:xfrm>
        </p:spPr>
        <p:txBody>
          <a:bodyPr/>
          <a:lstStyle/>
          <a:p>
            <a:pPr algn="ctr"/>
            <a:r>
              <a:rPr lang="en-IN" dirty="0"/>
              <a:t>Data Loading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41F1B975-F903-F03A-EBBD-A78D6F0FCA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50838" y="1363980"/>
            <a:ext cx="11063922" cy="4213859"/>
          </a:xfrm>
        </p:spPr>
      </p:pic>
    </p:spTree>
    <p:extLst>
      <p:ext uri="{BB962C8B-B14F-4D97-AF65-F5344CB8AC3E}">
        <p14:creationId xmlns:p14="http://schemas.microsoft.com/office/powerpoint/2010/main" val="2332593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10FFE-F814-0D6F-F84F-E9E4446F6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5A6162-E991-CD36-6222-E88526648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5" y="612037"/>
            <a:ext cx="10963836" cy="884238"/>
          </a:xfrm>
        </p:spPr>
        <p:txBody>
          <a:bodyPr/>
          <a:lstStyle/>
          <a:p>
            <a:pPr algn="ctr"/>
            <a:r>
              <a:rPr lang="en-IN" dirty="0"/>
              <a:t>Machine Learning Code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41F1B975-F903-F03A-EBBD-A78D6F0FCA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42900" y="1322070"/>
            <a:ext cx="5349240" cy="4213859"/>
          </a:xfrm>
        </p:spPr>
      </p:pic>
      <p:pic>
        <p:nvPicPr>
          <p:cNvPr id="2" name="Content Placeholder 15">
            <a:extLst>
              <a:ext uri="{FF2B5EF4-FFF2-40B4-BE49-F238E27FC236}">
                <a16:creationId xmlns:a16="http://schemas.microsoft.com/office/drawing/2014/main" id="{4F3E5CE0-688A-189D-1AC7-BFD3199FF1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5999" y="1322071"/>
            <a:ext cx="5800165" cy="429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405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10FFE-F814-0D6F-F84F-E9E4446F6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5A6162-E991-CD36-6222-E88526648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5" y="612037"/>
            <a:ext cx="10963836" cy="884238"/>
          </a:xfrm>
        </p:spPr>
        <p:txBody>
          <a:bodyPr/>
          <a:lstStyle/>
          <a:p>
            <a:pPr algn="ctr"/>
            <a:r>
              <a:rPr lang="en-IN" dirty="0"/>
              <a:t>Machine Learning Code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41F1B975-F903-F03A-EBBD-A78D6F0FCA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199142" y="1398270"/>
            <a:ext cx="9157222" cy="4213859"/>
          </a:xfrm>
        </p:spPr>
      </p:pic>
    </p:spTree>
    <p:extLst>
      <p:ext uri="{BB962C8B-B14F-4D97-AF65-F5344CB8AC3E}">
        <p14:creationId xmlns:p14="http://schemas.microsoft.com/office/powerpoint/2010/main" val="1340633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10FFE-F814-0D6F-F84F-E9E4446F6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5A6162-E991-CD36-6222-E88526648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5" y="612037"/>
            <a:ext cx="10963836" cy="884238"/>
          </a:xfrm>
        </p:spPr>
        <p:txBody>
          <a:bodyPr/>
          <a:lstStyle/>
          <a:p>
            <a:pPr algn="ctr"/>
            <a:r>
              <a:rPr lang="en-IN" dirty="0"/>
              <a:t>Machine Learning Code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41F1B975-F903-F03A-EBBD-A78D6F0FCA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295835" y="1398270"/>
            <a:ext cx="5288279" cy="4004310"/>
          </a:xfrm>
        </p:spPr>
      </p:pic>
      <p:pic>
        <p:nvPicPr>
          <p:cNvPr id="2" name="Content Placeholder 15">
            <a:extLst>
              <a:ext uri="{FF2B5EF4-FFF2-40B4-BE49-F238E27FC236}">
                <a16:creationId xmlns:a16="http://schemas.microsoft.com/office/drawing/2014/main" id="{E0A78E8A-1578-1C17-B6A4-9BC5E9654A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52161" y="1496275"/>
            <a:ext cx="5288279" cy="372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100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10FFE-F814-0D6F-F84F-E9E4446F6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5A6162-E991-CD36-6222-E88526648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5" y="307237"/>
            <a:ext cx="10963836" cy="884238"/>
          </a:xfrm>
        </p:spPr>
        <p:txBody>
          <a:bodyPr/>
          <a:lstStyle/>
          <a:p>
            <a:pPr algn="ctr"/>
            <a:r>
              <a:rPr lang="en-IN" dirty="0"/>
              <a:t>ML Modelling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41F1B975-F903-F03A-EBBD-A78D6F0FCA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75261" y="1398270"/>
            <a:ext cx="5408854" cy="4110990"/>
          </a:xfrm>
        </p:spPr>
      </p:pic>
      <p:pic>
        <p:nvPicPr>
          <p:cNvPr id="2" name="Content Placeholder 15">
            <a:extLst>
              <a:ext uri="{FF2B5EF4-FFF2-40B4-BE49-F238E27FC236}">
                <a16:creationId xmlns:a16="http://schemas.microsoft.com/office/drawing/2014/main" id="{E0A78E8A-1578-1C17-B6A4-9BC5E9654A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52161" y="1398270"/>
            <a:ext cx="5288279" cy="411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94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10FFE-F814-0D6F-F84F-E9E4446F6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5A6162-E991-CD36-6222-E88526648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5" y="307237"/>
            <a:ext cx="10963836" cy="884238"/>
          </a:xfrm>
        </p:spPr>
        <p:txBody>
          <a:bodyPr/>
          <a:lstStyle/>
          <a:p>
            <a:pPr algn="ctr"/>
            <a:r>
              <a:rPr lang="en-IN" dirty="0"/>
              <a:t>ML Modelling (Accuracy 98%)</a:t>
            </a:r>
            <a:br>
              <a:rPr lang="en-IN" dirty="0"/>
            </a:br>
            <a:endParaRPr lang="en-IN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41F1B975-F903-F03A-EBBD-A78D6F0FCA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75260" y="1398270"/>
            <a:ext cx="11374009" cy="4110990"/>
          </a:xfrm>
        </p:spPr>
      </p:pic>
    </p:spTree>
    <p:extLst>
      <p:ext uri="{BB962C8B-B14F-4D97-AF65-F5344CB8AC3E}">
        <p14:creationId xmlns:p14="http://schemas.microsoft.com/office/powerpoint/2010/main" val="4035271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10FFE-F814-0D6F-F84F-E9E4446F6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5A6162-E991-CD36-6222-E88526648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5" y="307237"/>
            <a:ext cx="10963836" cy="884238"/>
          </a:xfrm>
        </p:spPr>
        <p:txBody>
          <a:bodyPr/>
          <a:lstStyle/>
          <a:p>
            <a:pPr algn="ctr"/>
            <a:r>
              <a:rPr lang="en-IN" dirty="0"/>
              <a:t>ML Modelling (Visualizing)</a:t>
            </a:r>
            <a:br>
              <a:rPr lang="en-IN" dirty="0"/>
            </a:br>
            <a:endParaRPr lang="en-IN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41F1B975-F903-F03A-EBBD-A78D6F0FCA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525779" y="1191476"/>
            <a:ext cx="5006342" cy="4012984"/>
          </a:xfrm>
        </p:spPr>
      </p:pic>
      <p:pic>
        <p:nvPicPr>
          <p:cNvPr id="2" name="Content Placeholder 15">
            <a:extLst>
              <a:ext uri="{FF2B5EF4-FFF2-40B4-BE49-F238E27FC236}">
                <a16:creationId xmlns:a16="http://schemas.microsoft.com/office/drawing/2014/main" id="{09ED882A-D838-E7C6-EA25-2C46C96423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65922" y="1191474"/>
            <a:ext cx="4883077" cy="401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543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522221" y="-2667000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584960"/>
            <a:ext cx="10787270" cy="2743200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97</Words>
  <Application>Microsoft Office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Credit CARD FRAUD DETECTION.</vt:lpstr>
      <vt:lpstr>In THIS PRESENTATION</vt:lpstr>
      <vt:lpstr>OVERVIEW</vt:lpstr>
      <vt:lpstr>Data Loading</vt:lpstr>
      <vt:lpstr>Data Loading</vt:lpstr>
      <vt:lpstr>Data Loading</vt:lpstr>
      <vt:lpstr>Machine Learning Code</vt:lpstr>
      <vt:lpstr>Machine Learning Code</vt:lpstr>
      <vt:lpstr>Machine Learning Code</vt:lpstr>
      <vt:lpstr>ML Modelling</vt:lpstr>
      <vt:lpstr>ML Modelling (Accuracy 98%) </vt:lpstr>
      <vt:lpstr>ML Modelling (Visualizing)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DETECTION.</dc:title>
  <dc:creator>Akshay Thakare</dc:creator>
  <cp:lastModifiedBy>Akshay Thakare</cp:lastModifiedBy>
  <cp:revision>2</cp:revision>
  <dcterms:created xsi:type="dcterms:W3CDTF">2023-03-28T00:03:45Z</dcterms:created>
  <dcterms:modified xsi:type="dcterms:W3CDTF">2023-03-28T01:15:10Z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